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371600" cy="9144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LGS Master's Programs: Tuition Pricing &amp; Scholarship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A900"/>
                </a:solidFill>
                <a:latin typeface="Calibri"/>
              </a:rPr>
              <a:t>Emory Laney Graduate School — 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April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Executive Summary — Top 5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40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2A900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12169"/>
                </a:solidFill>
                <a:latin typeface="Calibri"/>
              </a:rPr>
              <a:t>MDP is Emory's costliest and most-discounted master's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$108k average gross, $49k net, 55% discount rate across 135 students over the 8-year panel ($8.4M in LGS scholarships).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640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2A900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12169"/>
                </a:solidFill>
                <a:latin typeface="Calibri"/>
              </a:rPr>
              <a:t>Two programs operate at 0% discount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Data Science (n=11) and MBID (n=8) show gross = net for every student. Obvious candidates for a pricing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640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2A900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12169"/>
                </a:solidFill>
                <a:latin typeface="Calibri"/>
              </a:rPr>
              <a:t>Enrollment is bimodal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Computer Science (154) and MDP (135) together account for 59% of the 493-student sample; eight other programs share the remaining 41%.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640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2A900"/>
                </a:solidFill>
                <a:latin typeface="Calibr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12169"/>
                </a:solidFill>
                <a:latin typeface="Calibri"/>
              </a:rPr>
              <a:t>Computer Science is 86% international — and still 49% discounted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Emory competes for these students on price as well as visa-friendliness; aid does not scale down as international share rises.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640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2A900"/>
                </a:solidFill>
                <a:latin typeface="Calibri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12169"/>
                </a:solidFill>
                <a:latin typeface="Calibri"/>
              </a:rPr>
              <a:t>Emory sits mid-pack against peers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Annualized gross tuition ~$47–50k across Data/CS, Economics, and General buckets — below Columbia/NYU ($65–91k) and above Georgia Tech's in-state rates ($31–41k).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Discount rates vary six-fold across programs — MDP tops the list at 55% while Data Science and MBID give nothing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discount_rate_by_p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7729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1216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MDP's ~$60k average discount is the biggest absolute tuition give — and its net tuition is still the highest in the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avg_gross_vs_net_tu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7729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1216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High international share doesn't come with lower aid — Computer Science is 86% international AND 49% discounted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intl_pct_vs_discoun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7729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1216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Computer Science enrollment has roughly doubled since 2022 — driving nearly all of Emory's LGS master's volume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enrollment_trend_by_p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7729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1216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Discount rates are broadly stable year-over-year — no program is systematically tightening aid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discount_rate_trend_by_p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7729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1216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Emory's annualized tuition ($47–50k) undercuts Columbia/NYU by $20–40k and sits above Georgia Tech's in-state rates — mid-market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peer_benchmark_emory_vs_pe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7729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1216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 Notes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900"/>
                </a:solidFill>
                <a:latin typeface="Calibri"/>
              </a:rPr>
              <a:t>• </a:t>
            </a:r>
            <a:r>
              <a:rPr sz="1300">
                <a:solidFill>
                  <a:srgbClr val="222222"/>
                </a:solidFill>
                <a:latin typeface="Calibri"/>
              </a:rPr>
              <a:t>Source data: institutional Excel exports of gross tuition billed and LGS scholarship awards; 8-year panel spanning AY 2019 through AY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900"/>
                </a:solidFill>
                <a:latin typeface="Calibri"/>
              </a:rPr>
              <a:t>• </a:t>
            </a:r>
            <a:r>
              <a:rPr sz="1300">
                <a:solidFill>
                  <a:srgbClr val="222222"/>
                </a:solidFill>
                <a:latin typeface="Calibri"/>
              </a:rPr>
              <a:t>Net tuition is clipped at zero. In rare cases a kept scholarship exceeds billed tuition for a partial-term student; we report that student as paying $0 rather than a negative amount.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900"/>
                </a:solidFill>
                <a:latin typeface="Calibri"/>
              </a:rPr>
              <a:t>• </a:t>
            </a:r>
            <a:r>
              <a:rPr sz="1300">
                <a:solidFill>
                  <a:srgbClr val="222222"/>
                </a:solidFill>
                <a:latin typeface="Calibri"/>
              </a:rPr>
              <a:t>Scholarship filter retains descriptions containing 'lgs' and drops external/federal awards (Pell, GRFP, Yellow Ribbon, Americorps, etc.) plus generic LGS 'special' awards, so discount rates reflect institutional aid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900"/>
                </a:solidFill>
                <a:latin typeface="Calibri"/>
              </a:rPr>
              <a:t>• </a:t>
            </a:r>
            <a:r>
              <a:rPr sz="1300">
                <a:solidFill>
                  <a:srgbClr val="222222"/>
                </a:solidFill>
                <a:latin typeface="Calibri"/>
              </a:rPr>
              <a:t>Small-n programs are merged: ECONMS + ECON4P1MS → Economics; DATASCIMS + QTMMS → Data Science; DEVPRACMDP + HUMANRTCRT → MDP.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900"/>
                </a:solidFill>
                <a:latin typeface="Calibri"/>
              </a:rPr>
              <a:t>• </a:t>
            </a:r>
            <a:r>
              <a:rPr sz="1300">
                <a:solidFill>
                  <a:srgbClr val="222222"/>
                </a:solidFill>
                <a:latin typeface="Calibri"/>
              </a:rPr>
              <a:t>Annualization for peer comparison uses program-specific terms-per-year (from the Information Sheet plus empirical seasonal distribution) rather than a blanket 2-term assumption. This corrects a ~33% understatement for 3-term programs such as MDP and Data Science.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900"/>
                </a:solidFill>
                <a:latin typeface="Calibri"/>
              </a:rPr>
              <a:t>• </a:t>
            </a:r>
            <a:r>
              <a:rPr sz="1300">
                <a:solidFill>
                  <a:srgbClr val="222222"/>
                </a:solidFill>
                <a:latin typeface="Calibri"/>
              </a:rPr>
              <a:t>Programs with zero kept scholarship (Data Science, MBID) are retained in the summary with a 0% discount rate — this is intentional and flags potential pricing discrepancies.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